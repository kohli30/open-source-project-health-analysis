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embeddedFontLst>
    <p:embeddedFont>
      <p:font typeface="Barlow"/>
      <p:regular r:id="rId9"/>
    </p:embeddedFont>
    <p:embeddedFont>
      <p:font typeface="Barlow"/>
      <p:regular r:id="rId10"/>
    </p:embeddedFont>
    <p:embeddedFont>
      <p:font typeface="Barlow"/>
      <p:regular r:id="rId11"/>
    </p:embeddedFont>
    <p:embeddedFont>
      <p:font typeface="Barlow"/>
      <p:regular r:id="rId12"/>
    </p:embeddedFont>
    <p:embeddedFont>
      <p:font typeface="Montserrat"/>
      <p:regular r:id="rId13"/>
    </p:embeddedFont>
    <p:embeddedFont>
      <p:font typeface="Montserrat"/>
      <p:regular r:id="rId14"/>
    </p:embeddedFont>
    <p:embeddedFont>
      <p:font typeface="Montserrat"/>
      <p:regular r:id="rId15"/>
    </p:embeddedFont>
    <p:embeddedFont>
      <p:font typeface="Montserrat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394" y="510183"/>
            <a:ext cx="1997750" cy="325160"/>
          </a:xfrm>
          <a:prstGeom prst="roundRect">
            <a:avLst>
              <a:gd name="adj" fmla="val 67465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86051" y="564952"/>
            <a:ext cx="1778437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MODELING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76394" y="897017"/>
            <a:ext cx="11490960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Predicting Repository Health with Logistic Regression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676394" y="1729740"/>
            <a:ext cx="1327761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six activity signals, a binary classifier estimates the probability a repository is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or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Declining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394" y="2172772"/>
            <a:ext cx="6561653" cy="1746052"/>
          </a:xfrm>
          <a:prstGeom prst="roundRect">
            <a:avLst>
              <a:gd name="adj" fmla="val 1570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363153"/>
            <a:ext cx="548402" cy="54840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7627" y="2514005"/>
            <a:ext cx="246698" cy="2466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6775" y="3065740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Commit Velocity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66775" y="3458885"/>
            <a:ext cx="618089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commit rate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392233" y="2172772"/>
            <a:ext cx="6561773" cy="1746052"/>
          </a:xfrm>
          <a:prstGeom prst="roundRect">
            <a:avLst>
              <a:gd name="adj" fmla="val 1570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614" y="2363153"/>
            <a:ext cx="548402" cy="548402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3467" y="2514005"/>
            <a:ext cx="246698" cy="2466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82614" y="3065740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Contributor Count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582614" y="3458885"/>
            <a:ext cx="618101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contributors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76394" y="4073009"/>
            <a:ext cx="6561653" cy="1746052"/>
          </a:xfrm>
          <a:prstGeom prst="roundRect">
            <a:avLst>
              <a:gd name="adj" fmla="val 1570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263390"/>
            <a:ext cx="548402" cy="548402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7627" y="4414242"/>
            <a:ext cx="246698" cy="24669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66775" y="4965978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Active Contributors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866775" y="5359122"/>
            <a:ext cx="618089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Last 30 days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7392233" y="4073009"/>
            <a:ext cx="6561773" cy="1746052"/>
          </a:xfrm>
          <a:prstGeom prst="roundRect">
            <a:avLst>
              <a:gd name="adj" fmla="val 1570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2614" y="4263390"/>
            <a:ext cx="548402" cy="548402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33467" y="4414242"/>
            <a:ext cx="246698" cy="24669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582614" y="4965978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Issue Resolution</a:t>
            </a:r>
            <a:endParaRPr lang="en-US" sz="1850" dirty="0"/>
          </a:p>
        </p:txBody>
      </p:sp>
      <p:sp>
        <p:nvSpPr>
          <p:cNvPr id="25" name="Text 15"/>
          <p:cNvSpPr/>
          <p:nvPr/>
        </p:nvSpPr>
        <p:spPr>
          <a:xfrm>
            <a:off x="7582614" y="5359122"/>
            <a:ext cx="618101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Resolution rate</a:t>
            </a:r>
            <a:endParaRPr lang="en-US" sz="1400" dirty="0"/>
          </a:p>
        </p:txBody>
      </p:sp>
      <p:sp>
        <p:nvSpPr>
          <p:cNvPr id="26" name="Shape 16"/>
          <p:cNvSpPr/>
          <p:nvPr/>
        </p:nvSpPr>
        <p:spPr>
          <a:xfrm>
            <a:off x="676394" y="5973247"/>
            <a:ext cx="6561653" cy="1746052"/>
          </a:xfrm>
          <a:prstGeom prst="roundRect">
            <a:avLst>
              <a:gd name="adj" fmla="val 1570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775" y="6163628"/>
            <a:ext cx="548402" cy="548402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7627" y="6314480"/>
            <a:ext cx="246698" cy="24669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66775" y="6866215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 Merge Rate</a:t>
            </a:r>
            <a:endParaRPr lang="en-US" sz="1850" dirty="0"/>
          </a:p>
        </p:txBody>
      </p:sp>
      <p:sp>
        <p:nvSpPr>
          <p:cNvPr id="30" name="Text 18"/>
          <p:cNvSpPr/>
          <p:nvPr/>
        </p:nvSpPr>
        <p:spPr>
          <a:xfrm>
            <a:off x="866775" y="7259360"/>
            <a:ext cx="618089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 request merges</a:t>
            </a:r>
            <a:endParaRPr lang="en-US" sz="1400" dirty="0"/>
          </a:p>
        </p:txBody>
      </p:sp>
      <p:sp>
        <p:nvSpPr>
          <p:cNvPr id="31" name="Shape 19"/>
          <p:cNvSpPr/>
          <p:nvPr/>
        </p:nvSpPr>
        <p:spPr>
          <a:xfrm>
            <a:off x="7392233" y="5973247"/>
            <a:ext cx="6561773" cy="1746052"/>
          </a:xfrm>
          <a:prstGeom prst="roundRect">
            <a:avLst>
              <a:gd name="adj" fmla="val 1570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2614" y="6163628"/>
            <a:ext cx="548402" cy="548402"/>
          </a:xfrm>
          <a:prstGeom prst="rect">
            <a:avLst/>
          </a:prstGeom>
        </p:spPr>
      </p:pic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33467" y="6314480"/>
            <a:ext cx="246698" cy="24669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7582614" y="6866215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Contributor Churn</a:t>
            </a:r>
            <a:endParaRPr lang="en-US" sz="1850" dirty="0"/>
          </a:p>
        </p:txBody>
      </p:sp>
      <p:sp>
        <p:nvSpPr>
          <p:cNvPr id="35" name="Text 21"/>
          <p:cNvSpPr/>
          <p:nvPr/>
        </p:nvSpPr>
        <p:spPr>
          <a:xfrm>
            <a:off x="7582614" y="7259360"/>
            <a:ext cx="618101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Contributor departure rate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850" y="428149"/>
            <a:ext cx="1753195" cy="264557"/>
          </a:xfrm>
          <a:prstGeom prst="roundRect">
            <a:avLst>
              <a:gd name="adj" fmla="val 70636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1753195" y="474821"/>
            <a:ext cx="1566505" cy="171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&amp; INSIGHTS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659850" y="737473"/>
            <a:ext cx="6272451" cy="512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Performance &amp; Key Findings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59850" y="3776543"/>
            <a:ext cx="2602111" cy="25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Evaluation: Confusion Matrix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9850" y="4144566"/>
            <a:ext cx="5465326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correctly classifies a majority of active repositories. Some misclassification occurs for declining ones, indicating moderate accuracy and pattern recognition capability.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2606" y="1543407"/>
            <a:ext cx="5465326" cy="546532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606" y="1543407"/>
            <a:ext cx="5465326" cy="546532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59850" y="7260431"/>
            <a:ext cx="11310580" cy="543282"/>
          </a:xfrm>
          <a:prstGeom prst="roundRect">
            <a:avLst>
              <a:gd name="adj" fmla="val 42996"/>
            </a:avLst>
          </a:prstGeom>
          <a:solidFill>
            <a:srgbClr val="B6D6F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465" y="7478673"/>
            <a:ext cx="194548" cy="1556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65628" y="7411164"/>
            <a:ext cx="10649188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Conclusion: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Repository sustainability is driven by contributor engagement, activity levels, and issue management efficiency.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2026-04-23T10:15:12Z</dcterms:created>
  <dcterms:modified xsi:type="dcterms:W3CDTF">2026-04-23T10:15:12Z</dcterms:modified>
</cp:coreProperties>
</file>